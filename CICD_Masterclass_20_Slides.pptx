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72865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CI/CD: From Manual Software Delivery to Full Automation</a:t>
            </a:r>
          </a:p>
          <a:p>
            <a:pPr>
              <a:spcBef>
                <a:spcPts val="400"/>
              </a:spcBef>
              <a:defRPr sz="1400">
                <a:solidFill>
                  <a:srgbClr val="2563EB"/>
                </a:solidFill>
              </a:defRPr>
            </a:pPr>
            <a:r>
              <a:t>A Complete 20-Slide Masterclass on Continuous Integration, Delivery, and GitHub Actions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5486400" cy="4114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28600" lIns="274320" rIns="27432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COURSE CREATOR &amp; INSTRUCTOR</a:t>
            </a:r>
          </a:p>
          <a:p>
            <a:pPr>
              <a:spcBef>
                <a:spcPts val="400"/>
              </a:spcBef>
              <a:defRPr sz="2400" b="1">
                <a:solidFill>
                  <a:srgbClr val="0F172A"/>
                </a:solidFill>
              </a:defRPr>
            </a:pPr>
            <a:r>
              <a:t>KERTHIK</a:t>
            </a:r>
          </a:p>
          <a:p>
            <a:pPr>
              <a:spcBef>
                <a:spcPts val="400"/>
              </a:spcBef>
              <a:defRPr sz="1400" b="1">
                <a:solidFill>
                  <a:srgbClr val="2563EB"/>
                </a:solidFill>
              </a:defRPr>
            </a:pPr>
            <a:r>
              <a:t>Project Manager at TNQ</a:t>
            </a:r>
          </a:p>
          <a:p>
            <a:pPr>
              <a:spcBef>
                <a:spcPts val="400"/>
              </a:spcBef>
              <a:defRPr sz="1300">
                <a:solidFill>
                  <a:srgbClr val="334155"/>
                </a:solidFill>
              </a:defRPr>
            </a:pPr>
            <a:r>
              <a:t>Worked as DevOps Engineer at SentinelFox</a:t>
            </a:r>
          </a:p>
          <a:p>
            <a:pPr>
              <a:spcBef>
                <a:spcPts val="400"/>
              </a:spcBef>
              <a:defRPr sz="1300" b="1">
                <a:solidFill>
                  <a:srgbClr val="D97706"/>
                </a:solidFill>
              </a:defRPr>
            </a:pPr>
            <a:r>
              <a:t>Building OrivianLabs (DevOps &amp; Cloud Systems Fellowship)</a:t>
            </a:r>
          </a:p>
          <a:p>
            <a:pPr>
              <a:spcBef>
                <a:spcPts val="800"/>
              </a:spcBef>
              <a:defRPr sz="1200">
                <a:solidFill>
                  <a:srgbClr val="334155"/>
                </a:solidFill>
              </a:defRPr>
            </a:pPr>
            <a:r>
              <a:t>Engineering leader focused on production cloud architectures, zero-downtime pipelines, and developer productivity.</a:t>
            </a:r>
          </a:p>
        </p:txBody>
      </p:sp>
      <p:pic>
        <p:nvPicPr>
          <p:cNvPr id="6" name="Picture 5" descr="devops_cicd_int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920240"/>
            <a:ext cx="4967935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92240" y="5532120"/>
            <a:ext cx="4967935" cy="50292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>
                <a:solidFill>
                  <a:srgbClr val="334155"/>
                </a:solidFill>
              </a:defRPr>
            </a:pPr>
            <a:r>
              <a:t>DevOps CI/CD Conveyor: Git Commit -&gt; Test -&gt; Docker -&gt; 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CI/CD Masterclass • Presented by Kerthik (Project Manager at TNQ) • Food Delivery Analogy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01 / 20  • 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1 — CI/CD: From Manual Work to Automated Software Delivery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Introduction to Continuous Integration and Continuous Delivery/Deployment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486400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Continuous Integration (CI): Developers merge code changes into the shared branch multiple times a day. Every commit triggers automated builds and tests, catching defects in &lt; 10 minutes.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Continuous Delivery (CDel): The application is continuously packaged and deployed to staging environments. Release to production is kept ready as a 1-click human business decision.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Continuous Deployment (CDep): Every passing commit is automatically deployed directly to production cloud servers with zero human intervention.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Business Impact: According to DORA (DevOps Research &amp; Assessment), elite CI/CD teams deploy 208x more frequently and recover from downtime 2,604x faster.</a:t>
            </a:r>
          </a:p>
        </p:txBody>
      </p:sp>
      <p:pic>
        <p:nvPicPr>
          <p:cNvPr id="7" name="Picture 6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91640"/>
            <a:ext cx="4967935" cy="3429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92240" y="5166360"/>
            <a:ext cx="4967935" cy="50292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>
                <a:solidFill>
                  <a:srgbClr val="334155"/>
                </a:solidFill>
              </a:defRPr>
            </a:pPr>
            <a:r>
              <a:t>Architecture Diagram: CI/CD Pipeline Flow: Code Commit ➔ Webhook Trigger ➔ Automated Tests ➔ Docker Package ➔ Live Cloud Deploy (200 OK).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CI/CD turns software delivery into a repeatable, automated process.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02 / 20  • 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2 — Traditional Software Development: The Manual Era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What Happens Before CI/CD? The High-Risk Manual Delivery Process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486400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The 6-Month 'Big Bang' Release: Teams wrote code in isolated branches for months. Merging resulted in 'Integration Hell' with thousands of conflicting code lines.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The 'Works on My Machine' Trap: A feature worked on the developer's MacBook, but immediately crashed on Linux production servers due to missing packages or different OS libraries.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Late-Night Production Panic: Releases were scheduled at 2:00 AM on weekends. Engineers manually ran SSH commands and SQL scripts, leading to multi-hour downtime.</a:t>
            </a:r>
          </a:p>
        </p:txBody>
      </p:sp>
      <p:pic>
        <p:nvPicPr>
          <p:cNvPr id="7" name="Picture 6" descr="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91640"/>
            <a:ext cx="4967935" cy="3429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92240" y="5166360"/>
            <a:ext cx="4967935" cy="50292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>
                <a:solidFill>
                  <a:srgbClr val="334155"/>
                </a:solidFill>
              </a:defRPr>
            </a:pPr>
            <a:r>
              <a:t>Architecture Diagram: Manual Delivery 'Integration Hell' vs. Automated CI/CD Continuous Flow Comparison.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Manual delivery can work for small hobby projects, but becomes unmanageable as applications and teams scale.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03 / 20  •  HISTORY &amp; ORIGINS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3 — The History and Evolution of CI/CD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Who Introduced CI/CD? A Decades-Long Evolution of Engineering Practices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28655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</a:defRPr>
            </a:pPr>
            <a:r>
              <a:t>* 1990s — Continuous Integration Emerges: Kent Beck established Continuous Integration as a core practice of Extreme Programming (XP), mandating daily code merges.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</a:defRPr>
            </a:pPr>
            <a:r>
              <a:t>* 2000 — CI Documented &amp; Codified: Martin Fowler and Matthew Foemmel published seminal papers describing practical automated build-and-test workflows.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</a:defRPr>
            </a:pPr>
            <a:r>
              <a:t>* 2001+ — First Automated CI Tools: ThoughtWorks engineers created CruiseControl, the first open-source daemon automating scheduled builds and test runs.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</a:defRPr>
            </a:pPr>
            <a:r>
              <a:t>* 2010s — Continuous Delivery Book: Jez Humble and David Farley published 'Continuous Delivery', extending automation from code compilation to cloud production releases.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</a:defRPr>
            </a:pPr>
            <a:r>
              <a:t>* Modern — Cloud-Native CI/CD Mainstream: Jenkins, GitLab CI, and GitHub Actions bring native, serverless workflow automation to millions of developers worldwide.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1691640"/>
            <a:ext cx="4327855" cy="3931920"/>
          </a:xfrm>
          <a:prstGeom prst="roundRect">
            <a:avLst/>
          </a:prstGeom>
          <a:solidFill>
            <a:srgbClr val="FEFCF6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D97706"/>
                </a:solidFill>
              </a:defRPr>
            </a:pPr>
            <a:r>
              <a:t>FOOD-ORDERING ANALOGY</a:t>
            </a:r>
          </a:p>
          <a:p>
            <a:pPr>
              <a:spcBef>
                <a:spcPts val="300"/>
              </a:spcBef>
              <a:defRPr sz="1300" b="1">
                <a:solidFill>
                  <a:srgbClr val="0F172A"/>
                </a:solidFill>
              </a:defRPr>
            </a:pPr>
            <a:r>
              <a:t>Restaurant Modernization Analogy </a:t>
            </a:r>
          </a:p>
          <a:p>
            <a:pPr>
              <a:spcBef>
                <a:spcPts val="300"/>
              </a:spcBef>
              <a:defRPr sz="1150">
                <a:solidFill>
                  <a:srgbClr val="334155"/>
                </a:solidFill>
              </a:defRPr>
            </a:pPr>
            <a:r>
              <a:t>Initially, a diner used paper slips and shoutouts. Over time, restaurants introduced digital point-of-sale systems, kitchen display screens, automated order tracking, and drone delivery.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CI/CD is an evolution of collaborative engineering practices, not an invention attributable to one individual.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04 / 20  •  TRANSFORMATION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4 — From Manual Releases to Automated Delivery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What Changed After CI/CD? The Paradigm Shift in Velocity &amp; Reliability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486400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  <a:p>
            <a:pPr>
              <a:spcBef>
                <a:spcPts val="300"/>
              </a:spcBef>
              <a:defRPr sz="1100" b="1">
                <a:solidFill>
                  <a:srgbClr val="0F172A"/>
                </a:solidFill>
              </a:defRPr>
            </a:pPr>
            <a:r>
              <a:t>• Build Phase: Automated clean build triggered on code push</a:t>
            </a:r>
          </a:p>
          <a:p>
            <a:pPr>
              <a:spcBef>
                <a:spcPts val="300"/>
              </a:spcBef>
              <a:defRPr sz="1100" b="1">
                <a:solidFill>
                  <a:srgbClr val="0F172A"/>
                </a:solidFill>
              </a:defRPr>
            </a:pPr>
            <a:r>
              <a:t>• Testing: Instant automated test suites run on every commit</a:t>
            </a:r>
          </a:p>
          <a:p>
            <a:pPr>
              <a:spcBef>
                <a:spcPts val="300"/>
              </a:spcBef>
              <a:defRPr sz="1100" b="1">
                <a:solidFill>
                  <a:srgbClr val="0F172A"/>
                </a:solidFill>
              </a:defRPr>
            </a:pPr>
            <a:r>
              <a:t>• Deployment: Automated zero-downtime pipeline deployment</a:t>
            </a:r>
          </a:p>
          <a:p>
            <a:pPr>
              <a:spcBef>
                <a:spcPts val="300"/>
              </a:spcBef>
              <a:defRPr sz="1100" b="1">
                <a:solidFill>
                  <a:srgbClr val="0F172A"/>
                </a:solidFill>
              </a:defRPr>
            </a:pPr>
            <a:r>
              <a:t>• Bug Detection: Detected within minutes; build fails immediately</a:t>
            </a:r>
          </a:p>
          <a:p>
            <a:pPr>
              <a:spcBef>
                <a:spcPts val="300"/>
              </a:spcBef>
              <a:defRPr sz="1100" b="1">
                <a:solidFill>
                  <a:srgbClr val="0F172A"/>
                </a:solidFill>
              </a:defRPr>
            </a:pPr>
            <a:r>
              <a:t>• Team Stress: Routine, predictable, non-event daytime releases</a:t>
            </a:r>
          </a:p>
        </p:txBody>
      </p:sp>
      <p:pic>
        <p:nvPicPr>
          <p:cNvPr id="7" name="Picture 6" descr="slid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91640"/>
            <a:ext cx="4967935" cy="3429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92240" y="5166360"/>
            <a:ext cx="4967935" cy="50292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>
                <a:solidFill>
                  <a:srgbClr val="334155"/>
                </a:solidFill>
              </a:defRPr>
            </a:pPr>
            <a:r>
              <a:t>Architecture Diagram: Before vs. After Transformation: Shifting from 6-month manual release panic to automated daily non-event deployments.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CI/CD reduces repetitive manual friction, allowing teams to ship higher-quality software with complete confidence.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05 / 20  •  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5 — Understanding CI, Continuous Delivery, and Continuous Deployment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What Is CI/CD? Dissecting the Three Core Stages of the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28655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</a:defRPr>
            </a:pPr>
            <a:r>
              <a:t>• Continuous Integration (CI): Developers regularly merge code into a shared repository. Every commit automatically triggers clean builds, linters, and unit test suites to detect regressions early.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</a:defRPr>
            </a:pPr>
            <a:r>
              <a:t>• Continuous Delivery (CD): After passing all automated checks and staging dry-runs, the software artifact is packaged and ready to deploy. Release to production requires a 1-click human approval.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</a:defRPr>
            </a:pPr>
            <a:r>
              <a:t>• Continuous Deployment (CD): Every qualifying change that passes all automated test gates is deployed directly to production cloud servers with zero human intervention.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CI validates changes; Continuous Delivery prepares software for release; Continuous Deployment puts it into production automatically.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06 / 20  •  VERSION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6 — Git: Tracking Every Change in the Code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What Is Git? The Distributed Foundation of Version Control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486400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Git is a distributed version control system that records changes to files over time.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It enables multiple software engineers to work concurrently on the same codebase without overwriting each other's work.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Every developer has a full, cryptographic copy of the repository history locally on their machine.</a:t>
            </a:r>
          </a:p>
        </p:txBody>
      </p:sp>
      <p:pic>
        <p:nvPicPr>
          <p:cNvPr id="7" name="Picture 6" descr="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91640"/>
            <a:ext cx="4967935" cy="3429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92240" y="5166360"/>
            <a:ext cx="4967935" cy="50292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>
                <a:solidFill>
                  <a:srgbClr val="334155"/>
                </a:solidFill>
              </a:defRPr>
            </a:pPr>
            <a:r>
              <a:t>Architecture Diagram: Git Version Control: Cryptographic snapshot commits, lightweight branching, and mainline collaboration.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Git manages code history and team collaboration. It is the necessary starting point for CI/CD.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07 / 20  •  PLATFORMS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7 — GitHub: A Central Place for Code and Collaboration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What Is GitHub? The Cloud Collaboration Platform for Modern Teams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28655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GitHub is a cloud-based hosting platform for Git repositories, serving over 100 million developers globally.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It provides the centralized remote hub where distributed teams store code, discuss features, and automate workflows.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1691640"/>
            <a:ext cx="4327855" cy="3931920"/>
          </a:xfrm>
          <a:prstGeom prst="roundRect">
            <a:avLst/>
          </a:prstGeom>
          <a:solidFill>
            <a:srgbClr val="FEFCF6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D97706"/>
                </a:solidFill>
              </a:defRPr>
            </a:pPr>
            <a:r>
              <a:t>FOOD-ORDERING ANALOGY</a:t>
            </a:r>
          </a:p>
          <a:p>
            <a:pPr>
              <a:spcBef>
                <a:spcPts val="300"/>
              </a:spcBef>
              <a:defRPr sz="1300" b="1">
                <a:solidFill>
                  <a:srgbClr val="0F172A"/>
                </a:solidFill>
              </a:defRPr>
            </a:pPr>
            <a:r>
              <a:t>Restaurant Management Hub </a:t>
            </a:r>
          </a:p>
          <a:p>
            <a:pPr>
              <a:spcBef>
                <a:spcPts val="300"/>
              </a:spcBef>
              <a:defRPr sz="1150">
                <a:solidFill>
                  <a:srgbClr val="334155"/>
                </a:solidFill>
              </a:defRPr>
            </a:pPr>
            <a:r>
              <a:t>If Git is the chef's personal notebook recording recipe steps, GitHub is the shared digital kitchen portal where recipes are stored, team members propose changes, and managers approve menus.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Git manages versions locally; GitHub hosts repositories centrally and connects code directly to automation engines.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08 / 20  •  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8 — CI/CD Tool Ecosystem: Specialized Tools for Every Stage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What Tools Are Used for CI/CD? Combining Specialized Tools into One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486400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</p:txBody>
      </p:sp>
      <p:pic>
        <p:nvPicPr>
          <p:cNvPr id="7" name="Picture 6" descr="slide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91640"/>
            <a:ext cx="4967935" cy="3429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92240" y="5166360"/>
            <a:ext cx="4967935" cy="50292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>
                <a:solidFill>
                  <a:srgbClr val="334155"/>
                </a:solidFill>
              </a:defRPr>
            </a:pPr>
            <a:r>
              <a:t>Architecture Diagram: CI/CD Tool Ecosystem: Specialized tools coordinated across Version Control, CI, Docker, AWS, and Monitoring.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CI/CD is a coordinated process combining specialized tools across the entire software delivery lifecycle.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09 / 20  •  GITHUB ACTIONS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9 — Why Choose GitHub Actions for Our CI/CD Project?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The Practical Advantage of Native, Serverless Repository Automation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28655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1691640"/>
            <a:ext cx="4327855" cy="3931920"/>
          </a:xfrm>
          <a:prstGeom prst="roundRect">
            <a:avLst/>
          </a:prstGeom>
          <a:solidFill>
            <a:srgbClr val="FEFCF6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D97706"/>
                </a:solidFill>
              </a:defRPr>
            </a:pPr>
            <a:r>
              <a:t>FOOD-ORDERING ANALOGY</a:t>
            </a:r>
          </a:p>
          <a:p>
            <a:pPr>
              <a:spcBef>
                <a:spcPts val="300"/>
              </a:spcBef>
              <a:defRPr sz="1300" b="1">
                <a:solidFill>
                  <a:srgbClr val="0F172A"/>
                </a:solidFill>
              </a:defRPr>
            </a:pPr>
            <a:r>
              <a:t>The All-in-One Restaurant Platform </a:t>
            </a:r>
          </a:p>
          <a:p>
            <a:pPr>
              <a:spcBef>
                <a:spcPts val="300"/>
              </a:spcBef>
              <a:defRPr sz="1150">
                <a:solidFill>
                  <a:srgbClr val="334155"/>
                </a:solidFill>
              </a:defRPr>
            </a:pPr>
            <a:r>
              <a:t>Instead of leasing extra real estate and hiring technicians to maintain custom kitchen machinery, you use a modern kitchen facility with built-in power, appliances, and automated stations ready on demand.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GitHub Actions is the ideal platform because it eliminates infrastructure overhead by bringing code, review, and automation together.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10 / 20  •  GITHUB ACTIONS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10 — GitHub Actions: The Automation Engine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What Is GitHub Actions? The Core Architecture &amp; Key Components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486400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GitHub Actions is an event-driven automation platform built directly into GitHub.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Workflows are declared in YAML files stored inside the `.github/workflows/` directory of the repository.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When a developer pushes code, GitHub automatically detects the event, spins up a fresh runner, executes jobs, and reports results.</a:t>
            </a:r>
          </a:p>
        </p:txBody>
      </p:sp>
      <p:pic>
        <p:nvPicPr>
          <p:cNvPr id="7" name="Picture 6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91640"/>
            <a:ext cx="4967935" cy="3429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92240" y="5166360"/>
            <a:ext cx="4967935" cy="50292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>
                <a:solidFill>
                  <a:srgbClr val="334155"/>
                </a:solidFill>
              </a:defRPr>
            </a:pPr>
            <a:r>
              <a:t>Architecture Diagram: GitHub Actions Architecture: Event Triggers ➔ Ephemeral Runner VMs ➔ Parallel Jobs ➔ Sequential Step Execution.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GitHub Actions executes the automation rules you define in YAML using ephemeral, secure cloud runners.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11 / 20  •  EXECUTION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11 — How Does GitHub Actions Work? From Code Push to Execution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Step-by-Step Lifecycle: What Happens When a Developer Commits Code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28655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1691640"/>
            <a:ext cx="4327855" cy="3931920"/>
          </a:xfrm>
          <a:prstGeom prst="roundRect">
            <a:avLst/>
          </a:prstGeom>
          <a:solidFill>
            <a:srgbClr val="FEFCF6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D97706"/>
                </a:solidFill>
              </a:defRPr>
            </a:pPr>
            <a:r>
              <a:t>FOOD-ORDERING ANALOGY</a:t>
            </a:r>
          </a:p>
          <a:p>
            <a:pPr>
              <a:spcBef>
                <a:spcPts val="300"/>
              </a:spcBef>
              <a:defRPr sz="1300" b="1">
                <a:solidFill>
                  <a:srgbClr val="0F172A"/>
                </a:solidFill>
              </a:defRPr>
            </a:pPr>
            <a:r>
              <a:t>Order Ticket to Cooking Pipeline ‍</a:t>
            </a:r>
          </a:p>
          <a:p>
            <a:pPr>
              <a:spcBef>
                <a:spcPts val="300"/>
              </a:spcBef>
              <a:defRPr sz="1150">
                <a:solidFill>
                  <a:srgbClr val="334155"/>
                </a:solidFill>
              </a:defRPr>
            </a:pPr>
            <a:r>
              <a:t>The moment an order arrives on the tablet, a kitchen ticket prints, station lights illuminate, cooks wash hands, ingredients are assembled, and food is prepared according to strict timers.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A trigger starts the workflow; the runner executes its jobs and steps in an isolated, clean sandbox.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12 / 20  •  WORKFLOW SYNTAX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12 — Understanding the GitHub Actions Workflow File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Our First CI/CD Workflow: Deconstructing the YAML Syntax Line by 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28655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1691640"/>
            <a:ext cx="4327855" cy="3931920"/>
          </a:xfrm>
          <a:prstGeom prst="roundRect">
            <a:avLst/>
          </a:prstGeom>
          <a:solidFill>
            <a:srgbClr val="FEFCF6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D97706"/>
                </a:solidFill>
              </a:defRPr>
            </a:pPr>
            <a:r>
              <a:t>FOOD-ORDERING ANALOGY</a:t>
            </a:r>
          </a:p>
          <a:p>
            <a:pPr>
              <a:spcBef>
                <a:spcPts val="300"/>
              </a:spcBef>
              <a:defRPr sz="1300" b="1">
                <a:solidFill>
                  <a:srgbClr val="0F172A"/>
                </a:solidFill>
              </a:defRPr>
            </a:pPr>
            <a:r>
              <a:t>Kitchen Standard Operating Procedure (SOP) </a:t>
            </a:r>
          </a:p>
          <a:p>
            <a:pPr>
              <a:spcBef>
                <a:spcPts val="300"/>
              </a:spcBef>
              <a:defRPr sz="1150">
                <a:solidFill>
                  <a:srgbClr val="334155"/>
                </a:solidFill>
              </a:defRPr>
            </a:pPr>
            <a:r>
              <a:t>The laminated kitchen SOP sheet lists instructions step by step: 1) Wash hands, 2) Set grill to 350°F, 3) Cook patty for 3 minutes, 4) Check internal temperature with thermometer.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YAML configuration files are human-readable blueprints that tell cloud runners exactly how to build and verify your software.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13 / 20  •  CI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13 — What Happens When We Push Code? The Complete CI Pipeline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Tracing a Real Code Change: Rapid Feedback Loops &amp; Defect Prevention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28655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1691640"/>
            <a:ext cx="4327855" cy="3931920"/>
          </a:xfrm>
          <a:prstGeom prst="roundRect">
            <a:avLst/>
          </a:prstGeom>
          <a:solidFill>
            <a:srgbClr val="FEFCF6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D97706"/>
                </a:solidFill>
              </a:defRPr>
            </a:pPr>
            <a:r>
              <a:t>FOOD-ORDERING ANALOGY</a:t>
            </a:r>
          </a:p>
          <a:p>
            <a:pPr>
              <a:spcBef>
                <a:spcPts val="300"/>
              </a:spcBef>
              <a:defRPr sz="1300" b="1">
                <a:solidFill>
                  <a:srgbClr val="0F172A"/>
                </a:solidFill>
              </a:defRPr>
            </a:pPr>
            <a:r>
              <a:t>Sous-Chef Quality Inspection </a:t>
            </a:r>
          </a:p>
          <a:p>
            <a:pPr>
              <a:spcBef>
                <a:spcPts val="300"/>
              </a:spcBef>
              <a:defRPr sz="1150">
                <a:solidFill>
                  <a:srgbClr val="334155"/>
                </a:solidFill>
              </a:defRPr>
            </a:pPr>
            <a:r>
              <a:t>The sous-chef tastes the soup before it leaves the kitchen. If too salty, it is rejected right at the pot — preventing an unhappy customer and negative review.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CI gives developers rapid feedback within minutes, stopping broken code before it progresses toward production.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14 / 20  •  PIPELINE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14 — The Four Major Stages of Delivery: Build, Test, Package, Deploy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The Universal Pipeline Progression from Source Code to Production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486400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</p:txBody>
      </p:sp>
      <p:pic>
        <p:nvPicPr>
          <p:cNvPr id="7" name="Picture 6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91640"/>
            <a:ext cx="4967935" cy="3429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92240" y="5166360"/>
            <a:ext cx="4967935" cy="50292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>
                <a:solidFill>
                  <a:srgbClr val="334155"/>
                </a:solidFill>
              </a:defRPr>
            </a:pPr>
            <a:r>
              <a:t>Architecture Diagram: The 4 Major Delivery Stages: 1. Build (Cook) ➔ 2. Test (Inspect) ➔ 3. Package (Bento Box) ➔ 4. Deploy (Deliver).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A reliable CI/CD pipeline enforces progressive trust: Build ➔ Test ➔ Package ➔ Deploy.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15 / 20  •  CONTAINERIZATION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15 — Docker and Container Images: Packaging Our Application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Curing 'Works on My Machine' by Standardizing the Packaging Layer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486400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Docker packages an application, its runtime dependencies, libraries, and system tools into an immutable container image.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This eliminates the infamous 'Works on my machine' bug: if a container runs on your laptop, it runs identically on staging and production.</a:t>
            </a:r>
          </a:p>
        </p:txBody>
      </p:sp>
      <p:pic>
        <p:nvPicPr>
          <p:cNvPr id="7" name="Picture 6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91640"/>
            <a:ext cx="4967935" cy="3429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92240" y="5166360"/>
            <a:ext cx="4967935" cy="50292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>
                <a:solidFill>
                  <a:srgbClr val="334155"/>
                </a:solidFill>
              </a:defRPr>
            </a:pPr>
            <a:r>
              <a:t>Architecture Diagram: Docker Containerization: Packaging code, libraries, and OS into standardized immutable images.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Docker creates immutable, portable packages; cloud platforms provide the infrastructure to run them.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16 / 20  •  CLOUD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16 — Deploying to AWS: From GitHub Actions to the Cloud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Publishing Container Images to Amazon ECR and Running on Amazon ECS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486400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AWS Cloud Infrastructure: Provides high-availability compute, container orchestration, and automated auto-scaling for modern microservices.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Keyless OIDC Authentication: GitHub Actions assumes an IAM Role via OpenID Connect (OIDC), eliminating the dangerous need for stored static access keys.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Amazon ECR (Elastic Container Registry): Private, encrypted Docker image registry that automatically scans every container image for CVE vulnerabilities on push.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Amazon ECS (Elastic Container Service): Serverless container orchestration using AWS Fargate that launches and manages tasks without managing EC2 servers.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Application Load Balancer (ALB): Distributes traffic across multi-AZ container tasks, conducts continuous /health checks, and shifts traffic with zero downtime.</a:t>
            </a:r>
          </a:p>
        </p:txBody>
      </p:sp>
      <p:pic>
        <p:nvPicPr>
          <p:cNvPr id="7" name="Picture 6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91640"/>
            <a:ext cx="4967935" cy="3429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92240" y="5166360"/>
            <a:ext cx="4967935" cy="50292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>
                <a:solidFill>
                  <a:srgbClr val="334155"/>
                </a:solidFill>
              </a:defRPr>
            </a:pPr>
            <a:r>
              <a:t>Architecture Diagram: AWS Cloud Architecture: GitHub Actions OIDC ➔ Amazon ECR Registry ➔ Amazon ECS Fargate ➔ ALB Load Balancer (200 OK).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GitHub Actions automates the deployment process; cloud providers supply the scalable hosting infrastructure.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17 / 20  •  SECURITY &amp;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17 — Security and Approval in CI/CD: Automate Safely, Not Just Quickly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DevSecOps: Principle of Least Privilege, Secret Protection, and Release Gates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28655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1691640"/>
            <a:ext cx="4327855" cy="3931920"/>
          </a:xfrm>
          <a:prstGeom prst="roundRect">
            <a:avLst/>
          </a:prstGeom>
          <a:solidFill>
            <a:srgbClr val="FEFCF6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D97706"/>
                </a:solidFill>
              </a:defRPr>
            </a:pPr>
            <a:r>
              <a:t>FOOD-ORDERING ANALOGY</a:t>
            </a:r>
          </a:p>
          <a:p>
            <a:pPr>
              <a:spcBef>
                <a:spcPts val="300"/>
              </a:spcBef>
              <a:defRPr sz="1300" b="1">
                <a:solidFill>
                  <a:srgbClr val="0F172A"/>
                </a:solidFill>
              </a:defRPr>
            </a:pPr>
            <a:r>
              <a:t>Kitchen Health &amp; Hygiene Protocols ️</a:t>
            </a:r>
          </a:p>
          <a:p>
            <a:pPr>
              <a:spcBef>
                <a:spcPts val="300"/>
              </a:spcBef>
              <a:defRPr sz="1150">
                <a:solidFill>
                  <a:srgbClr val="334155"/>
                </a:solidFill>
              </a:defRPr>
            </a:pPr>
            <a:r>
              <a:t>A restaurant automates order cooking, but still locks cash registers, requires hairnets, tests food temperatures, and restricts kitchen entry to authorized personnel.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Automate safely, not just quickly. Security checks and approval gates protect production from catastrophic leaks.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18 / 20  •  RESILIENCE &amp; SRE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18 — Failure Handling, Monitoring, and Rollback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What Happens When a Pipeline Fails? Embracing Failure Systematically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28655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1691640"/>
            <a:ext cx="4327855" cy="3931920"/>
          </a:xfrm>
          <a:prstGeom prst="roundRect">
            <a:avLst/>
          </a:prstGeom>
          <a:solidFill>
            <a:srgbClr val="FEFCF6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D97706"/>
                </a:solidFill>
              </a:defRPr>
            </a:pPr>
            <a:r>
              <a:t>FOOD-ORDERING ANALOGY</a:t>
            </a:r>
          </a:p>
          <a:p>
            <a:pPr>
              <a:spcBef>
                <a:spcPts val="300"/>
              </a:spcBef>
              <a:defRPr sz="1300" b="1">
                <a:solidFill>
                  <a:srgbClr val="0F172A"/>
                </a:solidFill>
              </a:defRPr>
            </a:pPr>
            <a:r>
              <a:t>Kitchen Quality Incident Response </a:t>
            </a:r>
          </a:p>
          <a:p>
            <a:pPr>
              <a:spcBef>
                <a:spcPts val="300"/>
              </a:spcBef>
              <a:defRPr sz="1150">
                <a:solidFill>
                  <a:srgbClr val="334155"/>
                </a:solidFill>
              </a:defRPr>
            </a:pPr>
            <a:r>
              <a:t>If food burns on the grill, it stays in the kitchen. If a rider drops a package, the system alerts the team, logs the refund, and dispatches a fresh meal immediately.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A reliable pipeline detects failures instantly, stops unsafe rollouts, and supports rapid recovery.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19 / 20  •  HANDS-ON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19 — Real-World Project: Automated Food Ordering Application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Build Your First End-to-End CI/CD Pipeline on GitHub Actions, Docker &amp; AWS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486400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End-to-End Real World Pipeline: From Git commit to live production cloud on AWS in under 4 minutes.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Automated CI Gates: Code linting, type-checking, and 80%+ test coverage enforced before any container image is compiled.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Immutable Packaging: Docker multi-stage build creates a tiny, secure container image pushed directly to Amazon ECR.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Zero-Downtime Deployment: Amazon ECS rolls out new tasks using rolling updates or blue-green switching via the Application Load Balancer.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SRE Telemetry &amp; Observability: AWS CloudWatch tracks latency and 5xx error rates, triggering automated rollbacks if any defects emerge.</a:t>
            </a:r>
          </a:p>
        </p:txBody>
      </p:sp>
      <p:pic>
        <p:nvPicPr>
          <p:cNvPr id="7" name="Picture 6" descr="slide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91640"/>
            <a:ext cx="4967935" cy="3429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92240" y="5166360"/>
            <a:ext cx="4967935" cy="50292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>
                <a:solidFill>
                  <a:srgbClr val="334155"/>
                </a:solidFill>
              </a:defRPr>
            </a:pPr>
            <a:r>
              <a:t>Architecture Diagram: End-to-End Real-World Project: Automated Food Ordering App pipeline running on GitHub Actions, Docker, and AWS.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This end-to-end project combines code, CI/CD, containers, AWS cloud infrastructure, and monitoring into a complete production system.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20 / 20  •  MASTERY &amp;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20 — From Beginner to CI/CD Practitioner: One Code Push, Automated Delivery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Final Summary &amp; Next Steps: Mastering the Continuous Delivery Mindset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28655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Mastering CI/CD transforms you into a high-impact engineer capable of delivering reliable software at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